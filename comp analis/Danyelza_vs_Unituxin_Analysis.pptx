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828800"/>
            <a:ext cx="8534095" cy="45720"/>
          </a:xfrm>
          <a:prstGeom prst="rect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Anti-GD2 Monoclonal Antibodies</a:t>
            </a:r>
            <a:br/>
            <a:r>
              <a:t>in Neuroblastoma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CCEE"/>
                </a:solidFill>
                <a:latin typeface="Calibri"/>
              </a:defRPr>
            </a:pPr>
            <a:r>
              <a:t>Company Profiles: Danyelza (Y-mAbs / SERB)  &amp;  Unituxin (United Therapeutics)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663440"/>
            <a:ext cx="8534095" cy="45720"/>
          </a:xfrm>
          <a:prstGeom prst="rect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728655" cy="45720"/>
          </a:xfrm>
          <a:prstGeom prst="rect">
            <a:avLst/>
          </a:prstGeom>
          <a:solidFill>
            <a:srgbClr val="5BB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DANYELZA (Naxitamab-gqgk)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C4E8"/>
                </a:solidFill>
                <a:latin typeface="Calibri"/>
              </a:defRPr>
            </a:pPr>
            <a:r>
              <a:t>Y-mAbs Therapeutics  /  SERB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AACC"/>
                </a:solidFill>
                <a:latin typeface="Calibri"/>
              </a:defRPr>
            </a:pPr>
            <a:r>
              <a:t>Humanized anti-GD2 monoclonal antibody (hu3F8) for relapsed/refractory high-risk neuroblastoma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120640"/>
            <a:ext cx="10728655" cy="45720"/>
          </a:xfrm>
          <a:prstGeom prst="rect">
            <a:avLst/>
          </a:prstGeom>
          <a:solidFill>
            <a:srgbClr val="5BB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DANYELZA  | 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686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Generic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Naxitamab-gqgk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Brand Name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Danyelza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Humanized anti-GD2 monoclonal antibody (hu3F8)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GD2 (disialoganglioside)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Relapsed/refractory high-risk neuroblastoma (in combination with GM-CSF)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FDA Approval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November 25, 2020 (accelerated approval)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Original 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Memorial Sloan Kettering Cancer Center (Dr. Nai-Kong Cheung)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Commercializer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Y-mAbs Therapeutics (2015–2025) → SERB Pharmaceuticals (acquired Sept 2025)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Developed In-House?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— Academic (MSK) developed, licensed to Y-mAbs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FDA Designations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Accelerated Approval, Breakthrough Therapy, Priority Review,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Orphan Drug, Rare Pediatric Disease, PRV (sold)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DANYELZA  |  Development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C4E8"/>
                </a:solidFill>
                <a:latin typeface="Calibri"/>
              </a:defRPr>
            </a:pPr>
            <a:r>
              <a:t>30+ years of translational research at Memorial Sloan Kettering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4183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Period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Milestone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1980s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Dr. Nai-Kong Cheung develops murine anti-GD2 antibody 3F8 at MSK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Mid-1980s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Clinical trials of 3F8 begin at MSK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1990s–2000s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Extensive clinical experience with 3F8 in hundreds of neuroblastoma patients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2000s–2010s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Development of humanized version hu3F8 (naxitamab) to reduce immunogenicity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Y-mAbs Therapeutics founded to commercialize MSK anti-GD2 portfolio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Sept 2018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Y-mAbs IPO on Nasdaq (~$86M raised at ~$14/share)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Nov 25, 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FDA accelerated approval of Danyelza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Aug 2025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SERB Pharmaceuticals agrees to acquire Y-mAbs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Sept 16,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SERB acquisition closes; Y-mAbs delisted from Nasdaq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Pivotal Study 201 (hu3F8 + GM-CSF) conducted at MSK — demonstrated efficacy in relapsed/refractory patients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3F8 (murine, never commercially approved) → hu3F8 (humanized, lower immunogenicity, more durable treatment)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DANYELZA  |  Y-mAbs Therapeutics — Company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C4E8"/>
                </a:solidFill>
                <a:latin typeface="Calibri"/>
              </a:defRPr>
            </a:pPr>
            <a:r>
              <a:t>The commercializing company before SERB acquisition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686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Founded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2015 by Thomas Gad (Danish entrepreneur)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Incorporated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Delaware, USA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Created specifically to commercialize Dr. Cheung's MSK anti-GD2 portfolio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IPO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September 28, 2018 — Nasdaq (YMAB), ~$14/share, ~$86M raised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Stage at IPO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Clinical-stage, pre-revenue, no approved products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Manufacturing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Via contract manufacturing organizations (CMOs)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Key Assets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Naxitamab (Danyelza), Omburtamab (8H9, anti-B7-H3), murine 3F8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Value Proposition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MSK-licensed assets + Dr. Cheung's 30+ year clinical track record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Classic academic spinout / biotech startup — pre-revenue, cash-burning, small team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Entire company built around Danyelza as the core commercial asset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License from MSK: exclusive worldwide rights to naxitamab, 3F8, and omburtamab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IP: patents covering humanized 3F8 (composition of matter, methods of use); Dr. Cheung as inventor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DANYELZA  |  Revenue &amp; Commercial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C4E8"/>
                </a:solidFill>
                <a:latin typeface="Calibri"/>
              </a:defRPr>
            </a:pPr>
            <a:r>
              <a:t>Strong growth trajectory since 2021 launch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1828800"/>
                <a:gridCol w="6217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Net Revenue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YoY Growth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$34.9M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Launch year (product: $32.9M + licensing: $2.0M)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2022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~$49.3M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+41%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Record Q4 at $16.4M (+31% sequential)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$84.3M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+71%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Record year; strong international expansion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$87.7M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+4%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International revenue $19.2M (+16% YoY)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Q1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$20.9M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+8% YoY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Q2 2025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$19.5M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Above guidance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Exceeded $17–19M guidance range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Revenue grew from ~$35M to ~$88M in 3 years (2021–2024)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International expansion is a key growth driver (~$19.2M in 2024, +16% YoY)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H1 2025 revenue: $40.4M — on track for continued growth under SERB ownership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DANYELZA  |  Valuation &amp; SERB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C4E8"/>
                </a:solidFill>
                <a:latin typeface="Calibri"/>
              </a:defRPr>
            </a:pPr>
            <a:r>
              <a:t>From IPO to acquisition — the Y-mAbs trajectory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011680"/>
                <a:gridCol w="49377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Period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 Range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 Cap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IPO (Sept 2018)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~$14/share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~$400–500M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Clinical-stage launch on Nasdaq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2019–2020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Rising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Growing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Positive clinical data, BLA filing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Peak (~2020)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~$40–55+/share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~$1.5–2.0B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FDA approval euphoria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2021–2023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$3–10/share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$100–400M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Commercial disappointment, omburtamab CRL,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biotech downturn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52-wk range (2024–25)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$3.55–$16.11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Volatile trading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Acquisition (Aug 2025)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$8.60/share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~$412M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SERB buyout at 105% premium</a:t>
                      </a:r>
                    </a:p>
                  </a:txBody>
                  <a:tcPr anchor="ctr">
                    <a:solidFill>
                      <a:srgbClr val="E3EE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SERB acquisition: $8.60/share cash (~$412M total), 105% premium over pre-announcement price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~16% of stockholders entered tender and support agreement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Y-mAbs now operates as subsidiary of SERB S.A.S.; delisted from Nasdaq Sept 16, 2025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Classic biotech boom-and-bust: peak ~$2B market cap → acquired at ~$412M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4C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728655" cy="45720"/>
          </a:xfrm>
          <a:prstGeom prst="rect">
            <a:avLst/>
          </a:prstGeom>
          <a:solidFill>
            <a:srgbClr val="6BB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UNITUXIN (Dinutuximab)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3CCB8"/>
                </a:solidFill>
                <a:latin typeface="Calibri"/>
              </a:defRPr>
            </a:pPr>
            <a:r>
              <a:t>United Therapeutics Corporation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9BBAA"/>
                </a:solidFill>
                <a:latin typeface="Calibri"/>
              </a:defRPr>
            </a:pPr>
            <a:r>
              <a:t>Chimeric anti-GD2 monoclonal antibody (ch14.18) for high-risk neuroblastoma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120640"/>
            <a:ext cx="10728655" cy="45720"/>
          </a:xfrm>
          <a:prstGeom prst="rect">
            <a:avLst/>
          </a:prstGeom>
          <a:solidFill>
            <a:srgbClr val="6BB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UNITUXIN  | 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A8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686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2B4C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2B4C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Generic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Dinutuximab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Brand Name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Unituxin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Chimeric anti-GD2 monoclonal antibody (ch14.18)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GD2 (disialoganglioside)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High-risk neuroblastoma (pediatric, frontline post-consolidation)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Combination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GM-CSF + IL-2 + isotretinoin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FDA Approval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March 10, 2015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Current Owner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United Therapeutics (U.S.); Recordati/EUSA Pharma (EU — Qarziba)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Developed In-House?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— Government/academic (NCI, COG, Scripps, UCSD)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FDA Designations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Priority Review, Breakthrough Therapy, Orphan Drug,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Rare Pediatric Disease, PRV ($67–350M historical value)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UNITUXIN  |  Development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3CCB8"/>
                </a:solidFill>
                <a:latin typeface="Calibri"/>
              </a:defRPr>
            </a:pPr>
            <a:r>
              <a:t>Government &amp; academic-driven development through NCI and COG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A8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4183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Period</a:t>
                      </a:r>
                    </a:p>
                  </a:txBody>
                  <a:tcPr anchor="ctr">
                    <a:solidFill>
                      <a:srgbClr val="2B4C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Milestone</a:t>
                      </a:r>
                    </a:p>
                  </a:txBody>
                  <a:tcPr anchor="ctr">
                    <a:solidFill>
                      <a:srgbClr val="2B4C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1980s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Dr. Ralph Reisfeld develops murine anti-GD2 antibody 14.18 at Scripps Research Institute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Late 1980s–90s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Chimeric ch14.18 engineered; Dr. Alice Yu (UCSD) advances clinical development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2000s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NCI funds research, manufactures antibody via Biologics Resources Branch, sponsors IND via CTEP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2006–2010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Pivotal ANBL0032 Phase III trial by COG across 200+ children's hospitals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Yu et al. publish landmark results in NEJM — significant OS/EFS improvement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March 10, 2015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FDA approves dinutuximab as Unituxin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United Therapeutics withdraws Unituxin from EU market (manufacturing difficulties)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212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Pivotal ANBL0032: ch14.18 + GM-CSF + IL-2 + isotretinoin vs. isotretinoin alone — significant OS/EFS benefit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Rare example of a drug developed almost entirely through government and academic effort, then licensed to a private company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EU gap filled by Qarziba (dinutuximab beta) — Apeiron → EUSA Pharma → Recordati ($845M acquisition, 2021)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UNITUXIN  |  United Therapeutics — Company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3CCB8"/>
                </a:solidFill>
                <a:latin typeface="Calibri"/>
              </a:defRPr>
            </a:pPr>
            <a:r>
              <a:t>The commercializing company — an established PAH leader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A8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03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2B4C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2B4C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Founded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1996 by Martine Rothblatt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Motivation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Daughter diagnosed with pulmonary arterial hypertension (PAH)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Core Business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PAH treatments (Remodulin, Tyvaso, Orenitram, Adcirca)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Annual Revenue (~2015)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~$1.4–1.6 billion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Market Cap (~2015)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~$6–8 billion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Financial Health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Solidly profitable, strong cash reserves, no debt concerns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Xenotransplantation (genetically modified pig organs)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Current Market Cap (2025)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~$14+ billion (driven by Tyvaso + xenotransplantation)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Unituxin was a small, complementary diversification into oncology — NOT a transformational asset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Commercial rights obtained from NCI under a CRADA (Cooperative Research &amp; Development Agreement)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Government-to-private technology transfer — not a traditional M&amp;A deal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NCI license terms: upfront fees, milestone payments, royalties on net sales back to NIH/NCI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UNITUXIN  |  Revenue &amp; Commercial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3CCB8"/>
                </a:solidFill>
                <a:latin typeface="Calibri"/>
              </a:defRPr>
            </a:pPr>
            <a:r>
              <a:t>Small orphan product in a niche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A8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7315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 anchor="ctr">
                    <a:solidFill>
                      <a:srgbClr val="2B4C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Estimated Revenue</a:t>
                      </a:r>
                    </a:p>
                  </a:txBody>
                  <a:tcPr anchor="ctr">
                    <a:solidFill>
                      <a:srgbClr val="2B4C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2B4C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~$12–20M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Partial year (approved March)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2016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~$30–40M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Early commercial ramp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~$50–60M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+$13.5M YoY growth; approaching peak range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2018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~$50–60M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Stable; peak annual level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Still marketed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 growth from price increases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Launch price: ~$175,000 per course of treatment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Addressable population: ~700–800 new high-risk neuroblastoma patients/year in U.S., only a subset eligible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Peak annual U.S. sales: ~$50–60M — small by pharma standards but significant for neuroblastoma community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Competition from Danyelza (approved 2020) created additional commercial pressure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PRV voucher (historically valued at $67–350M) potentially had more standalone financial value than Unituxin sales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UNITUXIN  |  Valuation Impact on United Therapeutics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3CCB8"/>
                </a:solidFill>
                <a:latin typeface="Calibri"/>
              </a:defRPr>
            </a:pPr>
            <a:r>
              <a:t>Modest impact on an established, profitable company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A8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Stock traded ~$160–180/share around FDA approval (March 2015) — no dramatic movement attributable to Unituxin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Market had largely priced in the approval given strong Phase III clinical data and orphan drug status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PAH franchise (Remodulin, Tyvaso, Orenitram) was always the dominant value driver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PRV voucher potentially had more standalone financial value than Unituxin's sales projections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Unituxin never became a material valuation driver for United Therapeutics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Current state (2025): UTHR market cap ~$14+ billion — driven by Tyvaso growth and xenotransplantation pipeline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Unituxin remains a minor, steady contributor to overall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4C3F"/>
                </a:solidFill>
                <a:latin typeface="Calibri"/>
              </a:defRPr>
            </a:pPr>
            <a:r>
              <a:t>EU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Unituxin withdrawn from EU in 2017 due to manufacturing difficulties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Gap filled by Qarziba (dinutuximab beta) — Recordati via EUSA Pharma acquisition ($845M, 2021)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Recordati targets peak Qarziba sales at €300–350M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Scientists &amp; Institutions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Calibri"/>
              </a:defRPr>
            </a:pPr>
            <a:r>
              <a:t>The researchers behind anti-GD2 immunotherapy in neuroblastoma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DANYELZA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Scientist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Institution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Dr. Nai-Kong Cheung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Memorial Sloan Kettering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Developed 3F8 &amp; hu3F8 (naxitamab);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30+ years of anti-GD2 research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4C3F"/>
                </a:solidFill>
                <a:latin typeface="Calibri"/>
              </a:defRPr>
            </a:pPr>
            <a:r>
              <a:t>UNITUXIN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474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Scientist</a:t>
                      </a:r>
                    </a:p>
                  </a:txBody>
                  <a:tcPr anchor="ctr">
                    <a:solidFill>
                      <a:srgbClr val="2B4C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Institution</a:t>
                      </a:r>
                    </a:p>
                  </a:txBody>
                  <a:tcPr anchor="ctr">
                    <a:solidFill>
                      <a:srgbClr val="2B4C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2B4C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Dr. Ralph Reisfeld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Scripps Research Institute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Developed original murine 14.18 antibody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Dr. Alice Yu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UCSD / Rady Children's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Central clinical investigator;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led pivotal ANBL0032 Phase III trial (NEJM 2010)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Dr. Katherine Matthay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UCSF Benioff Children's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Senior COG neuroblastoma investigator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Dr. John Maris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CHOP / UPenn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Leading neuroblastoma biologist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Dr. Stephen Gillies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Antibody-cytokine fusion proteins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NCI CTEP Officers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NCI, Bethesda, MD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Managed IND and clinical development</a:t>
                      </a:r>
                    </a:p>
                  </a:txBody>
                  <a:tcPr anchor="ctr">
                    <a:solidFill>
                      <a:srgbClr val="E8F2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560320"/>
            <a:ext cx="8534095" cy="45720"/>
          </a:xfrm>
          <a:prstGeom prst="rect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CCEE"/>
                </a:solidFill>
                <a:latin typeface="Calibri"/>
              </a:defRPr>
            </a:pPr>
            <a:r>
              <a:t>Anti-GD2 Monoclonal Antibodies in Neuroblastoma</a:t>
            </a:r>
            <a:br/>
            <a:r>
              <a:t>Danyelza (Y-mAbs / SERB)  &amp;  Unituxin (United Therapeutics)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937760"/>
            <a:ext cx="8534095" cy="45720"/>
          </a:xfrm>
          <a:prstGeom prst="rect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